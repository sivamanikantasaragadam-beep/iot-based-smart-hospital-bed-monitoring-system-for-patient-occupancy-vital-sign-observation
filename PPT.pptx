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latypi Medium" panose="020B0604020202020204" charset="0"/>
      <p:regular r:id="rId13"/>
    </p:embeddedFont>
    <p:embeddedFont>
      <p:font typeface="Source Serif 4" panose="020B0604020202020204" charset="0"/>
      <p:regular r:id="rId14"/>
    </p:embeddedFont>
    <p:embeddedFont>
      <p:font typeface="Source Serif 4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645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3667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 Hospital Bed Monitoring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60144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Patient Occupancy, Vital Sign Observation, and Emergency Assistance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IoT-enabled monitoring for enhanced patient safety and hospital efficiency</a:t>
            </a:r>
            <a:endParaRPr lang="en-US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E4F2A-5D1A-BCF5-BFB2-9BB9CA409FBE}"/>
              </a:ext>
            </a:extLst>
          </p:cNvPr>
          <p:cNvSpPr txBox="1"/>
          <p:nvPr/>
        </p:nvSpPr>
        <p:spPr>
          <a:xfrm>
            <a:off x="9022863" y="6211669"/>
            <a:ext cx="3169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SARAGADAM SIVA MANI KANTA</a:t>
            </a:r>
            <a:br>
              <a:rPr lang="en-IN"/>
            </a:br>
            <a:r>
              <a:rPr lang="en-IN"/>
              <a:t>323129520116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761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 Statement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11498"/>
            <a:ext cx="3500747" cy="22997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4502" y="1722934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Manual Supervision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74502" y="2123480"/>
            <a:ext cx="297629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Traditional hospital bed management relies heavily on manual supervision and periodic checks, creating gaps in continuous care.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5375" y="1511498"/>
            <a:ext cx="3500846" cy="22997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8402" y="1722934"/>
            <a:ext cx="297638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Monitoring Delays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658402" y="2123480"/>
            <a:ext cx="2976389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Continuous monitoring of patient occupancy and vital signs is labor-intensive and prone to delays that can compromise patient safety.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9374" y="1511498"/>
            <a:ext cx="3500747" cy="22997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2401" y="1722934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Undetected Emergencies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342401" y="2123480"/>
            <a:ext cx="297629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Emergency situations may go undetected without real-time observation, increasing risk of adverse patient outcomes.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94448"/>
            <a:ext cx="3500747" cy="22997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4502" y="4205883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Fragmented Information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74502" y="4606429"/>
            <a:ext cx="297629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Lack of centralized patient information leads to inefficient resource allocation and poor coordination among healthcare teams.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5375" y="3994448"/>
            <a:ext cx="3500846" cy="229979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58402" y="4205883"/>
            <a:ext cx="297638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Delayed Intervention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4658402" y="4606429"/>
            <a:ext cx="2976389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Healthcare professionals need immediate alerts for abnormal conditions to enable timely, life-saving intervention.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964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Proposed Solution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45655"/>
            <a:ext cx="6948611" cy="3937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51033" y="1265337"/>
            <a:ext cx="318543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IoT-Enabled Automation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351033" y="1575296"/>
            <a:ext cx="31854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Continuous, automated patient observation through an integrated Smart Hospital Bed Monitoring System.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351033" y="2377380"/>
            <a:ext cx="318543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Real-Time Sensor Integration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51033" y="2687340"/>
            <a:ext cx="3185437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Integrated sensors detect occupancy and collect vital sign data in real-time at the bedside.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351033" y="3302695"/>
            <a:ext cx="318543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Connectivity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51033" y="3612654"/>
            <a:ext cx="3185437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Centralized storage and analysis of patient information via secure cloud infrastructure.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351033" y="4228009"/>
            <a:ext cx="318543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Automated Alerts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51033" y="4537968"/>
            <a:ext cx="31854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alert system notifies healthcare professionals immediately of abnormal conditions.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351033" y="5340052"/>
            <a:ext cx="318543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Unified Dashboard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51033" y="5650012"/>
            <a:ext cx="31854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User-friendly monitoring dashboard provides secure access to patient data across the hospital network.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79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Objectives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244402"/>
            <a:ext cx="5374347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4" name="Shape 2"/>
          <p:cNvSpPr/>
          <p:nvPr/>
        </p:nvSpPr>
        <p:spPr>
          <a:xfrm>
            <a:off x="812085" y="1395016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304" y="1519238"/>
            <a:ext cx="203294" cy="2032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085" y="1966813"/>
            <a:ext cx="5073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Occupancy Monitoring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2085" y="2274094"/>
            <a:ext cx="50731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 continuous patient occupancy monitoring on hospital beds.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55774" y="1244402"/>
            <a:ext cx="5374446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9" name="Shape 6"/>
          <p:cNvSpPr/>
          <p:nvPr/>
        </p:nvSpPr>
        <p:spPr>
          <a:xfrm>
            <a:off x="6306384" y="1395016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0603" y="1519238"/>
            <a:ext cx="203294" cy="2032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6384" y="1966813"/>
            <a:ext cx="50732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Vital Sign Observation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06384" y="2274094"/>
            <a:ext cx="507322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Provide real-time vital sign observation and data collection for every patient.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1475" y="2977654"/>
            <a:ext cx="5374347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812085" y="3128268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304" y="3252490"/>
            <a:ext cx="203294" cy="2032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2085" y="3700066"/>
            <a:ext cx="5073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Automated Analysis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12085" y="4007346"/>
            <a:ext cx="507312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Detect abnormal health conditions through automated threshold-based analysis.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55774" y="2977654"/>
            <a:ext cx="5374446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19" name="Shape 14"/>
          <p:cNvSpPr/>
          <p:nvPr/>
        </p:nvSpPr>
        <p:spPr>
          <a:xfrm>
            <a:off x="6306384" y="3128268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0603" y="3252490"/>
            <a:ext cx="203294" cy="2032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06384" y="3700066"/>
            <a:ext cx="50732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Emergency Alerts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06384" y="4007346"/>
            <a:ext cx="507322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Identify emergency situations and generate immediate alerts to clinical staff.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61475" y="4710906"/>
            <a:ext cx="5374347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24" name="Shape 18"/>
          <p:cNvSpPr/>
          <p:nvPr/>
        </p:nvSpPr>
        <p:spPr>
          <a:xfrm>
            <a:off x="812085" y="4861520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304" y="4985742"/>
            <a:ext cx="203294" cy="20329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2085" y="5433318"/>
            <a:ext cx="5073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Centralized Monitoring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812085" y="5740598"/>
            <a:ext cx="507312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Establish centralized monitoring of patient and bed information across the facility.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155774" y="4710906"/>
            <a:ext cx="5374446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29" name="Shape 22"/>
          <p:cNvSpPr/>
          <p:nvPr/>
        </p:nvSpPr>
        <p:spPr>
          <a:xfrm>
            <a:off x="6306384" y="4861520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0603" y="4985742"/>
            <a:ext cx="203294" cy="20329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06384" y="5433318"/>
            <a:ext cx="50732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Safety &amp; Efficiency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6306384" y="5740598"/>
            <a:ext cx="5073225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 overall patient safety and hospital operational efficiency.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379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Components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0280"/>
            <a:ext cx="561167" cy="5611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4291" y="1450280"/>
            <a:ext cx="176813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Pressure Sensors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44291" y="2128738"/>
            <a:ext cx="1768133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Detect patient occupancy and bed status in real-time, providing accurate presence detection.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073" y="1450280"/>
            <a:ext cx="561167" cy="5611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16890" y="1450280"/>
            <a:ext cx="176813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Heart Rate Sensors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216890" y="2128738"/>
            <a:ext cx="1768133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Monitor cardiac activity continuously and detect arrhythmias or irregular rhythms.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672" y="1450280"/>
            <a:ext cx="561167" cy="5611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9488" y="1450280"/>
            <a:ext cx="176813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Temperature Sensors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989488" y="2128738"/>
            <a:ext cx="1768133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Continuously measure body temperature for fever or hypothermia detection.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271" y="1450280"/>
            <a:ext cx="561167" cy="5611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62087" y="1450280"/>
            <a:ext cx="1768133" cy="858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IoT Communication Modules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762087" y="2414786"/>
            <a:ext cx="1768133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 wireless transmission of sensor data from bedside to the central system.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214019"/>
            <a:ext cx="561167" cy="56118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44291" y="4214019"/>
            <a:ext cx="176813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Connectivity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444291" y="4892477"/>
            <a:ext cx="1768133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Facilitate secure data transfer, storage, and backup of all patient information.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4073" y="4214019"/>
            <a:ext cx="561167" cy="56118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216890" y="4214019"/>
            <a:ext cx="176813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Monitoring Dashboard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4216890" y="4892477"/>
            <a:ext cx="1768133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Provide healthcare professionals with unified access to real-time patient and bed data.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Working Principle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Analyze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Store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Transmit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Vitals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Occupancy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system operates as a seamless end-to-end pipeline — from bedside sensor detection through cloud-based analysis to real-time dashboard display — ensuring no critical event goes unnoticed.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8443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Monitoring Dashboard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1645345"/>
            <a:ext cx="10868745" cy="4006155"/>
          </a:xfrm>
          <a:prstGeom prst="roundRect">
            <a:avLst>
              <a:gd name="adj" fmla="val 686"/>
            </a:avLst>
          </a:prstGeom>
          <a:solidFill>
            <a:srgbClr val="F9F7F7"/>
          </a:solidFill>
          <a:ln/>
        </p:spPr>
      </p:sp>
      <p:sp>
        <p:nvSpPr>
          <p:cNvPr id="4" name="Shape 2"/>
          <p:cNvSpPr/>
          <p:nvPr/>
        </p:nvSpPr>
        <p:spPr>
          <a:xfrm>
            <a:off x="661475" y="1645345"/>
            <a:ext cx="5434373" cy="1335385"/>
          </a:xfrm>
          <a:custGeom>
            <a:avLst/>
            <a:gdLst/>
            <a:ahLst/>
            <a:cxnLst/>
            <a:rect l="l" t="t" r="r" b="b"/>
            <a:pathLst>
              <a:path w="5434373" h="1335385">
                <a:moveTo>
                  <a:pt x="22889" y="0"/>
                </a:moveTo>
                <a:lnTo>
                  <a:pt x="5434373" y="0"/>
                </a:lnTo>
                <a:lnTo>
                  <a:pt x="5434373" y="1335385"/>
                </a:lnTo>
                <a:lnTo>
                  <a:pt x="0" y="1335385"/>
                </a:lnTo>
                <a:lnTo>
                  <a:pt x="0" y="22890"/>
                </a:lnTo>
                <a:arcTo wR="22889" hR="22890" stAng="10800000" swAng="5400000"/>
                <a:close/>
              </a:path>
            </a:pathLst>
          </a:custGeom>
          <a:solidFill>
            <a:srgbClr val="F9F7F7"/>
          </a:solidFill>
          <a:ln/>
        </p:spPr>
      </p:sp>
      <p:sp>
        <p:nvSpPr>
          <p:cNvPr id="5" name="Text 3"/>
          <p:cNvSpPr/>
          <p:nvPr/>
        </p:nvSpPr>
        <p:spPr>
          <a:xfrm>
            <a:off x="844529" y="1828403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Patient Status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4529" y="2220813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Current health condition and vital sign summary for each monitored patient.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5848" y="1645345"/>
            <a:ext cx="5434373" cy="1335385"/>
          </a:xfrm>
          <a:custGeom>
            <a:avLst/>
            <a:gdLst/>
            <a:ahLst/>
            <a:cxnLst/>
            <a:rect l="l" t="t" r="r" b="b"/>
            <a:pathLst>
              <a:path w="5434373" h="1335385">
                <a:moveTo>
                  <a:pt x="0" y="0"/>
                </a:moveTo>
                <a:lnTo>
                  <a:pt x="5411484" y="0"/>
                </a:lnTo>
                <a:arcTo wR="22889" hR="22890" stAng="16200000" swAng="5400000"/>
                <a:lnTo>
                  <a:pt x="5434373" y="1335385"/>
                </a:lnTo>
                <a:lnTo>
                  <a:pt x="0" y="1335385"/>
                </a:lnTo>
                <a:lnTo>
                  <a:pt x="0" y="0"/>
                </a:lnTo>
                <a:close/>
              </a:path>
            </a:pathLst>
          </a:custGeom>
          <a:solidFill>
            <a:srgbClr val="F9F7F7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1645345"/>
            <a:ext cx="25399" cy="1335385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9" name="Text 7"/>
          <p:cNvSpPr/>
          <p:nvPr/>
        </p:nvSpPr>
        <p:spPr>
          <a:xfrm>
            <a:off x="6278902" y="1828403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Bed Occupancy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78902" y="2220813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occupancy detection and bed availability across the entire ward.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1475" y="2980730"/>
            <a:ext cx="5434373" cy="1335385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2980730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3" name="Text 11"/>
          <p:cNvSpPr/>
          <p:nvPr/>
        </p:nvSpPr>
        <p:spPr>
          <a:xfrm>
            <a:off x="844529" y="3163788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Vital Trends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4529" y="3556198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Heart rate, temperature readings, and historical data visualization over time.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5848" y="2980730"/>
            <a:ext cx="5434373" cy="1335385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2980730"/>
            <a:ext cx="25399" cy="1335385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2980730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6278902" y="3163788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Emergency Alerts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78902" y="3556198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Active alerts and critical condition notifications displayed prominently for immediate action.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1475" y="4316115"/>
            <a:ext cx="5434373" cy="1335385"/>
          </a:xfrm>
          <a:custGeom>
            <a:avLst/>
            <a:gdLst/>
            <a:ahLst/>
            <a:cxnLst/>
            <a:rect l="l" t="t" r="r" b="b"/>
            <a:pathLst>
              <a:path w="5434373" h="1335385">
                <a:moveTo>
                  <a:pt x="0" y="0"/>
                </a:moveTo>
                <a:lnTo>
                  <a:pt x="5434373" y="0"/>
                </a:lnTo>
                <a:lnTo>
                  <a:pt x="5434373" y="1335385"/>
                </a:lnTo>
                <a:lnTo>
                  <a:pt x="22889" y="1335385"/>
                </a:lnTo>
                <a:arcTo wR="22889" hR="22890" stAng="5400000" swAng="5400000"/>
                <a:lnTo>
                  <a:pt x="0" y="0"/>
                </a:lnTo>
                <a:close/>
              </a:path>
            </a:pathLst>
          </a:custGeom>
          <a:solidFill>
            <a:srgbClr val="F9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61475" y="4316115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2" name="Text 20"/>
          <p:cNvSpPr/>
          <p:nvPr/>
        </p:nvSpPr>
        <p:spPr>
          <a:xfrm>
            <a:off x="844529" y="4499173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Alert History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4529" y="4891584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Log of past alerts and patient incidents for clinical review and audit.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95848" y="4316115"/>
            <a:ext cx="5434373" cy="1335385"/>
          </a:xfrm>
          <a:custGeom>
            <a:avLst/>
            <a:gdLst/>
            <a:ahLst/>
            <a:cxnLst/>
            <a:rect l="l" t="t" r="r" b="b"/>
            <a:pathLst>
              <a:path w="5434373" h="1335385">
                <a:moveTo>
                  <a:pt x="0" y="0"/>
                </a:moveTo>
                <a:lnTo>
                  <a:pt x="5434373" y="0"/>
                </a:lnTo>
                <a:lnTo>
                  <a:pt x="5434373" y="1312496"/>
                </a:lnTo>
                <a:arcTo wR="22889" hR="22890" stAng="0" swAng="5400000"/>
                <a:lnTo>
                  <a:pt x="0" y="1335385"/>
                </a:lnTo>
                <a:lnTo>
                  <a:pt x="0" y="0"/>
                </a:lnTo>
                <a:close/>
              </a:path>
            </a:pathLst>
          </a:custGeom>
          <a:solidFill>
            <a:srgbClr val="F9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5848" y="4316115"/>
            <a:ext cx="25399" cy="1335385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48" y="4316115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7" name="Text 25"/>
          <p:cNvSpPr/>
          <p:nvPr/>
        </p:nvSpPr>
        <p:spPr>
          <a:xfrm>
            <a:off x="6278902" y="4499173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Device Status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78902" y="4891584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Sensor connectivity and system health monitoring to ensure uninterrupted operation.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1475" y="5851029"/>
            <a:ext cx="114783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Enables healthcare professionals to efficiently monitor </a:t>
            </a: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multiple patients simultaneously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from a single centralized location.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Emergency Detection and Alerts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071812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274318"/>
            <a:ext cx="5315512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system continuously compares vital sign readings against predefined normal ranges and thresholds. Abnormal conditions — such as irregular heart rate, extreme temperature, or sudden physiological changes — trigger emergency detection instantly.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673673"/>
            <a:ext cx="5315512" cy="524966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alerts sent immediately to healthcare professionals via dashboard and mobile notifications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alerts enable rapid medical intervention and reduce response time to critical situations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Timely emergency response significantly improves patient outcomes and reduces mortality risk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Eliminates delays associated with manual observation and periodic bed checks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90947"/>
            <a:ext cx="6296860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Benefits and Applications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61475" y="1320105"/>
            <a:ext cx="2971924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Benefits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46" y="1677839"/>
            <a:ext cx="216986" cy="2169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1661" y="1670745"/>
            <a:ext cx="2501738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Improved Patient Safety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through continuous real-time clinical observation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46" y="2512566"/>
            <a:ext cx="216986" cy="2169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31661" y="2505472"/>
            <a:ext cx="2501738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Reduced Manual Burden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on nursing and clinical staff with automated monitoring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46" y="3347293"/>
            <a:ext cx="216986" cy="21699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31661" y="3340199"/>
            <a:ext cx="2501738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Efficient Bed Management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optimized healthcare resource allocation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46" y="4182021"/>
            <a:ext cx="216986" cy="21699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31661" y="4174927"/>
            <a:ext cx="2501738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Faster Emergency Response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with automated, real-time critical condition alerts</a:t>
            </a:r>
            <a:endParaRPr lang="en-US" sz="1100" dirty="0"/>
          </a:p>
        </p:txBody>
      </p:sp>
      <p:sp>
        <p:nvSpPr>
          <p:cNvPr id="13" name="Text 6"/>
          <p:cNvSpPr/>
          <p:nvPr/>
        </p:nvSpPr>
        <p:spPr>
          <a:xfrm>
            <a:off x="3992760" y="1320105"/>
            <a:ext cx="2971924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3992760" y="1670745"/>
            <a:ext cx="2971924" cy="1034852"/>
          </a:xfrm>
          <a:prstGeom prst="roundRect">
            <a:avLst>
              <a:gd name="adj" fmla="val 2098"/>
            </a:avLst>
          </a:prstGeom>
          <a:solidFill>
            <a:srgbClr val="F9F7F7"/>
          </a:solidFill>
          <a:ln/>
        </p:spPr>
      </p:sp>
      <p:sp>
        <p:nvSpPr>
          <p:cNvPr id="15" name="Text 8"/>
          <p:cNvSpPr/>
          <p:nvPr/>
        </p:nvSpPr>
        <p:spPr>
          <a:xfrm>
            <a:off x="4137418" y="1815405"/>
            <a:ext cx="268260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General Wards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4137418" y="2152154"/>
            <a:ext cx="268260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Routine patient monitoring across standard hospital beds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3992760" y="2816324"/>
            <a:ext cx="2971924" cy="1034852"/>
          </a:xfrm>
          <a:prstGeom prst="roundRect">
            <a:avLst>
              <a:gd name="adj" fmla="val 2098"/>
            </a:avLst>
          </a:prstGeom>
          <a:solidFill>
            <a:srgbClr val="F9F7F7"/>
          </a:solidFill>
          <a:ln/>
        </p:spPr>
      </p:sp>
      <p:sp>
        <p:nvSpPr>
          <p:cNvPr id="18" name="Text 11"/>
          <p:cNvSpPr/>
          <p:nvPr/>
        </p:nvSpPr>
        <p:spPr>
          <a:xfrm>
            <a:off x="4137418" y="2960985"/>
            <a:ext cx="268260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ICU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4137418" y="3297734"/>
            <a:ext cx="268260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Intensive care units requiring continuous high-acuity observation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3992760" y="3961904"/>
            <a:ext cx="2971924" cy="1034852"/>
          </a:xfrm>
          <a:prstGeom prst="roundRect">
            <a:avLst>
              <a:gd name="adj" fmla="val 2098"/>
            </a:avLst>
          </a:prstGeom>
          <a:solidFill>
            <a:srgbClr val="F9F7F7"/>
          </a:solidFill>
          <a:ln/>
        </p:spPr>
      </p:sp>
      <p:sp>
        <p:nvSpPr>
          <p:cNvPr id="21" name="Text 14"/>
          <p:cNvSpPr/>
          <p:nvPr/>
        </p:nvSpPr>
        <p:spPr>
          <a:xfrm>
            <a:off x="4137418" y="4106565"/>
            <a:ext cx="268260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Post-Operative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137418" y="4443313"/>
            <a:ext cx="268260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Recovery areas monitoring patients after surgical procedures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3992760" y="5107484"/>
            <a:ext cx="2971924" cy="1034852"/>
          </a:xfrm>
          <a:prstGeom prst="roundRect">
            <a:avLst>
              <a:gd name="adj" fmla="val 2098"/>
            </a:avLst>
          </a:prstGeom>
          <a:solidFill>
            <a:srgbClr val="F9F7F7"/>
          </a:solidFill>
          <a:ln/>
        </p:spPr>
      </p:sp>
      <p:sp>
        <p:nvSpPr>
          <p:cNvPr id="24" name="Text 17"/>
          <p:cNvSpPr/>
          <p:nvPr/>
        </p:nvSpPr>
        <p:spPr>
          <a:xfrm>
            <a:off x="4137418" y="5252145"/>
            <a:ext cx="268260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Long-Term Care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137418" y="5588893"/>
            <a:ext cx="268260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Nursing homes, rehabilitation centers, and clinics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37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 and Future Potential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8461" y="1372791"/>
            <a:ext cx="1065175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Smart Hospital Bed Monitoring System unifies pressure sensors, heart rate sensors, temperature sensors, IoT communication, and cloud connectivity into a single intelligent healthcare solution.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248172"/>
            <a:ext cx="19050" cy="658019"/>
          </a:xfrm>
          <a:prstGeom prst="roundRect">
            <a:avLst>
              <a:gd name="adj" fmla="val 49999"/>
            </a:avLst>
          </a:prstGeom>
          <a:solidFill>
            <a:srgbClr val="3E2513"/>
          </a:solidFill>
          <a:ln/>
        </p:spPr>
      </p:sp>
      <p:sp>
        <p:nvSpPr>
          <p:cNvPr id="5" name="Shape 3"/>
          <p:cNvSpPr/>
          <p:nvPr/>
        </p:nvSpPr>
        <p:spPr>
          <a:xfrm>
            <a:off x="6086323" y="2030809"/>
            <a:ext cx="19050" cy="3436739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5518062" y="2184003"/>
            <a:ext cx="43407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5933083" y="2030809"/>
            <a:ext cx="325529" cy="32553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8" name="Text 6"/>
          <p:cNvSpPr/>
          <p:nvPr/>
        </p:nvSpPr>
        <p:spPr>
          <a:xfrm>
            <a:off x="5987305" y="2057896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1475" y="2080518"/>
            <a:ext cx="471078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Current 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1475" y="2373015"/>
            <a:ext cx="471078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Centralized dashboard with real-time vitals, occupancy detection, and automated emergency alerts across hospital wards.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9562" y="2984401"/>
            <a:ext cx="43407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3083" y="2831207"/>
            <a:ext cx="325529" cy="32553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5987305" y="2858294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19432" y="2880916"/>
            <a:ext cx="471078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Near-Term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9432" y="3173413"/>
            <a:ext cx="471078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Scalable and secure architecture supporting deployment across multiple healthcare facilities simultaneously.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18062" y="3698875"/>
            <a:ext cx="43407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33083" y="3545681"/>
            <a:ext cx="325529" cy="32553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8" name="Text 16"/>
          <p:cNvSpPr/>
          <p:nvPr/>
        </p:nvSpPr>
        <p:spPr>
          <a:xfrm>
            <a:off x="5987305" y="3572768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1475" y="3595390"/>
            <a:ext cx="471078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1475" y="3887887"/>
            <a:ext cx="471078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Advanced analytics and predictive health monitoring to anticipate deterioration before emergencies occur.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9562" y="4413349"/>
            <a:ext cx="43407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5933083" y="4260155"/>
            <a:ext cx="325529" cy="32553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23" name="Text 21"/>
          <p:cNvSpPr/>
          <p:nvPr/>
        </p:nvSpPr>
        <p:spPr>
          <a:xfrm>
            <a:off x="5987305" y="4287242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19432" y="4309864"/>
            <a:ext cx="471078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Long-Term Vision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9432" y="4602361"/>
            <a:ext cx="471078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Full integration with Electronic Health Records (EHR) for comprehensive, data-driven patient care management.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1475" y="5592167"/>
            <a:ext cx="10868745" cy="691455"/>
          </a:xfrm>
          <a:prstGeom prst="roundRect">
            <a:avLst>
              <a:gd name="adj" fmla="val 3139"/>
            </a:avLst>
          </a:prstGeom>
          <a:solidFill>
            <a:srgbClr val="F3E3D8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2" y="5752108"/>
            <a:ext cx="180871" cy="14466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31661" y="5739011"/>
            <a:ext cx="10253902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system delivers enhanced patient safety, improved clinical observation, reduced manual workload, and intelligent hospital bed management — transforming how healthcare facilities operate.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822</Words>
  <Application>Microsoft Office PowerPoint</Application>
  <PresentationFormat>Widescreen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Source Serif 4</vt:lpstr>
      <vt:lpstr>Platypi Medium</vt:lpstr>
      <vt:lpstr>Arial</vt:lpstr>
      <vt:lpstr>Source Serif 4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3</cp:revision>
  <dcterms:created xsi:type="dcterms:W3CDTF">2026-08-20T04:21:58Z</dcterms:created>
  <dcterms:modified xsi:type="dcterms:W3CDTF">2026-10-02T17:25:03Z</dcterms:modified>
</cp:coreProperties>
</file>